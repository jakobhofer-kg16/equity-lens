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Signal by category (Spearman ρ)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correlation with next-year excess return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Growth</c:v>
                  </c:pt>
                  <c:pt idx="1">
                    <c:v>Profitability</c:v>
                  </c:pt>
                  <c:pt idx="2">
                    <c:v>Valuation vs peers</c:v>
                  </c:pt>
                  <c:pt idx="3">
                    <c:v>Financial health</c:v>
                  </c:pt>
                  <c:pt idx="4">
                    <c:v>Momentum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-0.01</c:v>
                </c:pt>
                <c:pt idx="1">
                  <c:v>-0.129</c:v>
                </c:pt>
                <c:pt idx="2">
                  <c:v>0.145</c:v>
                </c:pt>
                <c:pt idx="3">
                  <c:v>0.033</c:v>
                </c:pt>
                <c:pt idx="4">
                  <c:v>0.019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-0.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With transcripts</c:v>
                  </c:pt>
                  <c:pt idx="1">
                    <c:v>With fundamentals</c:v>
                  </c:pt>
                  <c:pt idx="2">
                    <c:v>Cheap + acceptable call</c:v>
                  </c:pt>
                  <c:pt idx="3">
                    <c:v>Priced (industry cap)</c:v>
                  </c:pt>
                  <c:pt idx="4">
                    <c:v>Golden cross, RSI &lt; 70</c:v>
                  </c:pt>
                  <c:pt idx="5">
                    <c:v>Portfolio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383</c:v>
                </c:pt>
                <c:pt idx="1">
                  <c:v>372</c:v>
                </c:pt>
                <c:pt idx="2">
                  <c:v>171</c:v>
                </c:pt>
                <c:pt idx="3">
                  <c:v>40</c:v>
                </c:pt>
                <c:pt idx="4">
                  <c:v>16</c:v>
                </c:pt>
                <c:pt idx="5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Maximum Sharpe (chosen)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ALL</c:v>
                  </c:pt>
                  <c:pt idx="1">
                    <c:v>INCY</c:v>
                  </c:pt>
                  <c:pt idx="2">
                    <c:v>DAL</c:v>
                  </c:pt>
                  <c:pt idx="3">
                    <c:v>NVDA</c:v>
                  </c:pt>
                  <c:pt idx="4">
                    <c:v>SPG</c:v>
                  </c:pt>
                  <c:pt idx="5">
                    <c:v>SOLV</c:v>
                  </c:pt>
                  <c:pt idx="6">
                    <c:v>DVA</c:v>
                  </c:pt>
                  <c:pt idx="7">
                    <c:v>EXPE</c:v>
                  </c:pt>
                  <c:pt idx="8">
                    <c:v>GEN</c:v>
                  </c:pt>
                  <c:pt idx="9">
                    <c:v>OXY</c:v>
                  </c:pt>
                  <c:pt idx="10">
                    <c:v>CI</c:v>
                  </c:pt>
                  <c:pt idx="11">
                    <c:v>FRT</c:v>
                  </c:pt>
                  <c:pt idx="12">
                    <c:v>AES</c:v>
                  </c:pt>
                  <c:pt idx="13">
                    <c:v>BBY</c:v>
                  </c:pt>
                  <c:pt idx="14">
                    <c:v>EMN</c:v>
                  </c:pt>
                  <c:pt idx="15">
                    <c:v>DVN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4.9</c:v>
                </c:pt>
                <c:pt idx="9">
                  <c:v>3.1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Minimum variance</c:v>
                </c:pt>
              </c:strCache>
            </c:strRef>
          </c:tx>
          <c:spPr>
            <a:solidFill>
              <a:srgbClr val="9DB4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ALL</c:v>
                  </c:pt>
                  <c:pt idx="1">
                    <c:v>INCY</c:v>
                  </c:pt>
                  <c:pt idx="2">
                    <c:v>DAL</c:v>
                  </c:pt>
                  <c:pt idx="3">
                    <c:v>NVDA</c:v>
                  </c:pt>
                  <c:pt idx="4">
                    <c:v>SPG</c:v>
                  </c:pt>
                  <c:pt idx="5">
                    <c:v>SOLV</c:v>
                  </c:pt>
                  <c:pt idx="6">
                    <c:v>DVA</c:v>
                  </c:pt>
                  <c:pt idx="7">
                    <c:v>EXPE</c:v>
                  </c:pt>
                  <c:pt idx="8">
                    <c:v>GEN</c:v>
                  </c:pt>
                  <c:pt idx="9">
                    <c:v>OXY</c:v>
                  </c:pt>
                  <c:pt idx="10">
                    <c:v>CI</c:v>
                  </c:pt>
                  <c:pt idx="11">
                    <c:v>FRT</c:v>
                  </c:pt>
                  <c:pt idx="12">
                    <c:v>AES</c:v>
                  </c:pt>
                  <c:pt idx="13">
                    <c:v>BBY</c:v>
                  </c:pt>
                  <c:pt idx="14">
                    <c:v>EMN</c:v>
                  </c:pt>
                  <c:pt idx="15">
                    <c:v>DVN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</c:v>
                </c:pt>
                <c:pt idx="1">
                  <c:v>10</c:v>
                </c:pt>
                <c:pt idx="2">
                  <c:v>2</c:v>
                </c:pt>
                <c:pt idx="3">
                  <c:v>8</c:v>
                </c:pt>
                <c:pt idx="4">
                  <c:v>10</c:v>
                </c:pt>
                <c:pt idx="5">
                  <c:v>2</c:v>
                </c:pt>
                <c:pt idx="6">
                  <c:v>7.4</c:v>
                </c:pt>
                <c:pt idx="7">
                  <c:v>2</c:v>
                </c:pt>
                <c:pt idx="8">
                  <c:v>8.7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3.9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dashboard before the meeting; the quotes on it are fetched on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open #/portfolio, point at "Portfolio today" (live), switch weighting method, click one ticker into the dossier, show the track-record section and the call-sentiment reaction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jakobhofer-kg16.github.io/equity-lens/#/portfoli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against peers,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by the call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equity strategy for a $1M USD allocation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Jakob Hofer · Executive MBA Finance 2025–27 · Generative AI in Finance (Ted Kwartler)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https://jakobhofer-kg16.github.io/equity-lens/#/portfolio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ask, and what you get for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$1M to a rules-based basket of S&amp;P 500 companies that are cheaper than their own industry peers, whose latest earnings call does not contradict the price, and that have already turned 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7614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industries, 2–10% per name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6517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7614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9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(in-sample)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0.72 over the same window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7614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16.5%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26517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27614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earnings season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read from the application's committed data files. Nothing is typed in, and the same files drive the live dashboard.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thesis: the model told us what not to trust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thesis I backtested a five-factor score on 359 S&amp;P 500 companies as of 2025-01-31 against the next year's excess return over SPY. The total score ranked nothing (ρ 0.00). One factor did.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vs peers: ρ +0.14 — the only factor above the ±0.11 noise floor in the right direction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Profitability: ρ -0.13 — quality had already been priced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health, momentum: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keep the factor that worked, drop the one that hurt, add two checks the score never had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309360" y="1280160"/>
          <a:ext cx="5394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rules, three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Value (selects)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P/E below the industry-peer median, or EV/EBITDA below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multiples positive; operating margin above zero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= Finnhub classification; universe median if fewer than four peers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Call tone (screens out value traps)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earnings call polarity ≥ 0.20 on a finance lexicon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worse than −0.10 versus the prior call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words below 1.5% of the transcript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split by employer, not job title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54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Technical (times the entry)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cross: 50-day above 200-day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above the 200-day average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RSI(14) below 70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Gates, never selects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among names that pass: 50% value discount · 30% tone level · 20% tone change (percentile ranks). At most four names per industry.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free tiers, verified against real keys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that shaped the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Finnhub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133 TTM metrics, industry, real peer list, live quotes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requests/min; prices, targets and transcripts are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Twelve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prices for technical rules, 2-year returns for optimisation, SPY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requests/min — the pipeline's bottleneck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transcript archive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2,899 earnings calls, 383 companies — the text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key, CORS-enabled; ends at the archive's last quarter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commentary on the dashboard (gemini-2.5-flash)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Labelled AI-generated; never used for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Vantage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price target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requests/day → one request per 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entered in the app and stay in the browser. A search of the full Git history and the published bundle found none.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383 companies to a portfolio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46304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cheaper than peers: 128 — the thesis is selective by design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Loss-making: 40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tone deteriorating: 29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but still in a downtrend: 24 of 40 — removed by the entry filter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portfolio: 16 names, 12 industries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2651760"/>
                <a:gridCol w="1005840"/>
                <a:gridCol w="1463040"/>
                <a:gridCol w="1463040"/>
                <a:gridCol w="9144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vs peer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 (Δ)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Allstate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/ 13.1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(+0.11)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Incyte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 / 20.3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(+0.02)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Air Lines 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 / 23.0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(+0.04)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Semiconductors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 / 36.1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 (+0.09)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Simon Property Group 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 / 36.1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 (+0.03)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Solventum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 / 26.1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(+0.06)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DaVita 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 / 26.1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 (+0.22)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Expedia Group 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Hotels, Restaurants &amp;…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 / 19.9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 (+0.04)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Digital 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 / 27.7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 (+0.06)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Occidental Petroleum Co…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 / 16.5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(+0.04)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Cigna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 / 26.1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(-0.01)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Federal Realty Investme…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 / 36.1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(+0.03)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/ 21.0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(-0.00)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Buy Co 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 / 20.3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 (+0.17)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Eastman Chemical 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 / 47.6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 (+0.33)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Devon Energy Corp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 / 16.5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 (+0.07)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maximum Sharpe ratio, 2–10% per name. Signals as of 2026-09-03.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Weights: the optimiser tilts, it does not decide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463040"/>
            <a:ext cx="3200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that passed the rules is held: 2% floor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cap per name, at most four per industry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floor the max-Sharpe optimiser put ten names at the cap and nine at zero — a bet on last year's winners, not the thesis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Min-variance ignores expected returns; where both agree (ALL, INCY, SPG, OXY) the position is robust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methods taught, side by side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28016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Sharpe ratio (chosen)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SPY, same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7160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 honestly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031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trading days ending 2026-09-03; risk-free 4%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were fitted on the same window they are measured on — this is the fit, not a forecast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returns are historical means, the weakest input in mean-variance work; that is why min-variance is shown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(live demo)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https://jakobhofer-kg16.github.io/equity-lens/#/portfolio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load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677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 live quote for all holdings from Finnhub; failures shown as "stale", never hidden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2677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Max-Sharpe, min-variance and equal weight switchable; $1M allocation per name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935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Golden/death cross, RSI(14), MACD histogram and call tone per holding, dated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Commentary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5935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paragraphs written by the model from the live quotes and signals, labelled; without a key, a computed summary and no pre-written text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194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ticker opens the full dossier: score, chart, peers, analysts, news, call sentiment, track record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49194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sample data, keys in the browser only, 41 unit tests, GitHub Pages on every push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 and what limits them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backtest, one year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9659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valuation signal was found at a single 2025 anchor. Mitigation: second and third anchors before scaling; paper-trade two quarters.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98848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trap despite the call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19659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word-count tone can be gamed by upbeat language. Mitigation: hedging and legal-vocabulary rates, tone change, and the technical gate.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47888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error in weights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47888" y="19659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returns are historical means. Mitigation: 2–10% bands, industry cap, min-variance shown beside max-Sharpe.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by industry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industries; Health Care and Energy carry several names. Mitigation: cap of four per industry; monitor sector beta.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98848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vendor risk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tiers, rate limits, a course archive that stops. Mitigation: layered providers, persisted cache, explicit "stale" states.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3703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without oversight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Capital: rules executing unwatched. Mitigation: quarterly human review, no automated trading, every signal labelled and dated.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will ask, and the answers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"Your Sharpe beats SPY — why should I believe it?"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642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shouldn't, as a forecast. It is in-sample on 504 days. What I ask you to believe is the process: one factor with out-of-sample evidence, two independent checks, and a dashboard that shows you the fit and the stale states rather than hiding them.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"Why not just buy cheap stocks?"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986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cheap alone was the 128-name rejection in reverse: half the cheap names were cheap for a reason. The call tone and the trend filter are what turn a screen into a portfolio.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if the model is wrong about profitability?"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3308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hold fewer high-margin names than a quality strategy would, and the min-variance view is the hedge. The finding was one year; the rule is re-tested every anchor we add.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"Who pulls the trigger?"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6752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quarterly, after earnings season. The application recommends; it never trades. That is the Knight Capital lesson applied.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$1M into the 16-name maximum-Sharpe basket, 2–10% per name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re-screen after earnings season; exits on a break of the 200-day average or a call tone below zero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quarters of paper-tracking on the dashboard reported back to this committee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and third backtest anchors delivered before any scale-up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https://jakobhofer-kg16.github.io/equity-lens/#/portfolio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github.com/jakobhofer-kg16/equity-lens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Hofer · Generative AI in Finance · Investment Committee ·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Cheap against peers, confirmed by the call</dc:title>
  <dc:subject>PptxGenJS Presentation</dc:subject>
  <dc:creator>Jakob Hofer</dc:creator>
  <cp:lastModifiedBy>Jakob Hofer</cp:lastModifiedBy>
  <cp:revision>1</cp:revision>
  <dcterms:created xsi:type="dcterms:W3CDTF">2026-09-04T13:19:32Z</dcterms:created>
  <dcterms:modified xsi:type="dcterms:W3CDTF">2026-09-04T13:19:32Z</dcterms:modified>
</cp:coreProperties>
</file>